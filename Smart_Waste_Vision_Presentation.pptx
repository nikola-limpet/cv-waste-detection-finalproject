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976D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5757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EfficientNet-B3</c:v>
                  </c:pt>
                  <c:pt idx="1">
                    <c:v>ResNet50</c:v>
                  </c:pt>
                  <c:pt idx="2">
                    <c:v>MobileNetV2</c:v>
                  </c:pt>
                  <c:pt idx="3">
                    <c:v>VGG16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93.96</c:v>
                </c:pt>
                <c:pt idx="1">
                  <c:v>82.93</c:v>
                </c:pt>
                <c:pt idx="2">
                  <c:v>81.73</c:v>
                </c:pt>
                <c:pt idx="3">
                  <c:v>80.33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Test 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titl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28405" y="1578025"/>
            <a:ext cx="408718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Waste Vision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2094701" y="2200275"/>
            <a:ext cx="495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8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CNN-Based Waste Image Classification System</a:t>
            </a:r>
            <a:endParaRPr lang="en-US" sz="1800" dirty="0"/>
          </a:p>
        </p:txBody>
      </p:sp>
      <p:pic>
        <p:nvPicPr>
          <p:cNvPr id="5" name="Image 1" descr="/home/yuujin/school/cv-final-project/pptx-workspace/slides/accent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695575"/>
            <a:ext cx="1524000" cy="38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60031" y="3013025"/>
            <a:ext cx="2223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B3E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Final Project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192944" y="3314551"/>
            <a:ext cx="758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B3E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header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55525"/>
            <a:ext cx="356164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Introduction: The Problem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1000" y="761851"/>
            <a:ext cx="4102150" cy="552152"/>
          </a:xfrm>
          <a:prstGeom prst="roundRect">
            <a:avLst>
              <a:gd name="adj" fmla="val 1150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30606" y="850702"/>
            <a:ext cx="40029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Cambodia Waste Crisis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30606" y="1060252"/>
            <a:ext cx="400293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tons of municipal waste generated daily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81000" y="1390204"/>
            <a:ext cx="4102150" cy="767655"/>
          </a:xfrm>
          <a:prstGeom prst="roundRect">
            <a:avLst>
              <a:gd name="adj" fmla="val 8272"/>
            </a:avLst>
          </a:prstGeom>
          <a:solidFill>
            <a:srgbClr val="F1F8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82501" y="1491704"/>
            <a:ext cx="39771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Impact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2501" y="1701254"/>
            <a:ext cx="3977131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waste reaches landfills unsorted, contaminating soil, water, and air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81000" y="2234059"/>
            <a:ext cx="4102150" cy="767655"/>
          </a:xfrm>
          <a:prstGeom prst="roundRect">
            <a:avLst>
              <a:gd name="adj" fmla="val 8272"/>
            </a:avLst>
          </a:prstGeom>
          <a:solidFill>
            <a:srgbClr val="F1F8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2501" y="2335560"/>
            <a:ext cx="39771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Sorting Fails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2501" y="2545110"/>
            <a:ext cx="3977131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Labor-intensive, inconsistent, and inaccurate — missed recycling opportunities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1000" y="3077914"/>
            <a:ext cx="4102150" cy="602754"/>
          </a:xfrm>
          <a:prstGeom prst="roundRect">
            <a:avLst>
              <a:gd name="adj" fmla="val 10535"/>
            </a:avLst>
          </a:prstGeom>
          <a:solidFill>
            <a:srgbClr val="F1F8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2501" y="3179415"/>
            <a:ext cx="39771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Hazards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2501" y="3388965"/>
            <a:ext cx="397713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vectors from untreated organic waste in urban areas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660850" y="761851"/>
            <a:ext cx="4102150" cy="767655"/>
          </a:xfrm>
          <a:prstGeom prst="roundRect">
            <a:avLst>
              <a:gd name="adj" fmla="val 8272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762351" y="863352"/>
            <a:ext cx="39771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CV Solution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62351" y="1072902"/>
            <a:ext cx="3977131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 + transfer learning can automate waste sorting from photographs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660850" y="1605707"/>
            <a:ext cx="4102150" cy="767655"/>
          </a:xfrm>
          <a:prstGeom prst="roundRect">
            <a:avLst>
              <a:gd name="adj" fmla="val 8272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762351" y="1707207"/>
            <a:ext cx="39771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Application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62351" y="1916757"/>
            <a:ext cx="3977131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applies Computer Vision techniques to a real-world environmental problem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660850" y="2449562"/>
            <a:ext cx="4102150" cy="767655"/>
          </a:xfrm>
          <a:prstGeom prst="roundRect">
            <a:avLst>
              <a:gd name="adj" fmla="val 8272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62351" y="2551063"/>
            <a:ext cx="39771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62351" y="2760613"/>
            <a:ext cx="3977131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image classifier achieving 85%+ accuracy on waste categorization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660850" y="3293418"/>
            <a:ext cx="4102150" cy="767655"/>
          </a:xfrm>
          <a:prstGeom prst="roundRect">
            <a:avLst>
              <a:gd name="adj" fmla="val 8272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62351" y="3394918"/>
            <a:ext cx="39771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62351" y="3604468"/>
            <a:ext cx="3977131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classification only (not detection/segmentation). No hardware integration.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header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55525"/>
            <a:ext cx="24864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44401" y="8254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72691" y="898327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52351" y="825401"/>
            <a:ext cx="7747248" cy="644426"/>
          </a:xfrm>
          <a:prstGeom prst="roundRect">
            <a:avLst>
              <a:gd name="adj" fmla="val 1182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976164" y="825401"/>
            <a:ext cx="0" cy="644426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77677" y="952351"/>
            <a:ext cx="74911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Image Classifier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7677" y="1190476"/>
            <a:ext cx="74911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classifier for 10 waste categories using Convolutional Neural Networks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44401" y="159677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72691" y="166970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52351" y="1596777"/>
            <a:ext cx="7747248" cy="644426"/>
          </a:xfrm>
          <a:prstGeom prst="roundRect">
            <a:avLst>
              <a:gd name="adj" fmla="val 1182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976164" y="1596777"/>
            <a:ext cx="0" cy="644426"/>
          </a:xfrm>
          <a:prstGeom prst="line">
            <a:avLst/>
          </a:prstGeom>
          <a:noFill/>
          <a:ln w="47625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7677" y="1723727"/>
            <a:ext cx="74911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Comparison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77677" y="1961852"/>
            <a:ext cx="74911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4 transfer learning models: EfficientNet-B3, ResNet50, VGG16, MobileNetV2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4401" y="236815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72691" y="2441079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52351" y="2368153"/>
            <a:ext cx="7747248" cy="644426"/>
          </a:xfrm>
          <a:prstGeom prst="roundRect">
            <a:avLst>
              <a:gd name="adj" fmla="val 1182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976164" y="2368153"/>
            <a:ext cx="0" cy="644426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7677" y="2495104"/>
            <a:ext cx="74911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Preprocessing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77677" y="2733229"/>
            <a:ext cx="74911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resizing, normalization, data augmentation, and feature extraction techniques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4401" y="313952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72691" y="321245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52351" y="3139529"/>
            <a:ext cx="7747248" cy="644426"/>
          </a:xfrm>
          <a:prstGeom prst="roundRect">
            <a:avLst>
              <a:gd name="adj" fmla="val 1182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976164" y="3139529"/>
            <a:ext cx="0" cy="644426"/>
          </a:xfrm>
          <a:prstGeom prst="line">
            <a:avLst/>
          </a:prstGeom>
          <a:noFill/>
          <a:ln w="47625">
            <a:solidFill>
              <a:srgbClr val="1565C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77677" y="3266480"/>
            <a:ext cx="74911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+ Interpretability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77677" y="3504605"/>
            <a:ext cx="74911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with standard metrics (accuracy, F1, confusion matrix) + Grad-CAM visualization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44401" y="391090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72691" y="3983831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52351" y="3910905"/>
            <a:ext cx="7747248" cy="644426"/>
          </a:xfrm>
          <a:prstGeom prst="roundRect">
            <a:avLst>
              <a:gd name="adj" fmla="val 1182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976164" y="3910905"/>
            <a:ext cx="0" cy="644426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77677" y="4037856"/>
            <a:ext cx="74911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Demo Application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77677" y="4275981"/>
            <a:ext cx="74911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functioning Gradio web interface for real-time waste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header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55525"/>
            <a:ext cx="5072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Review: CNN Architectures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44401" y="787301"/>
            <a:ext cx="84203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Architecture Papers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44401" y="1098352"/>
            <a:ext cx="1968550" cy="1694706"/>
          </a:xfrm>
          <a:prstGeom prst="roundRect">
            <a:avLst>
              <a:gd name="adj" fmla="val 3747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44401" y="1117402"/>
            <a:ext cx="1968550" cy="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351" y="1263402"/>
            <a:ext cx="17489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 (He et al. 2016)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351" y="1466552"/>
            <a:ext cx="1748942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Residual/skip connections solve vanishing gradient problem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351" y="1818382"/>
            <a:ext cx="1748942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</a:t>
            </a:r>
            <a:pPr algn="l" indent="0" marL="0">
              <a:lnSpc>
                <a:spcPts val="1235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Enables training 50+ layer deep networks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1351" y="2170212"/>
            <a:ext cx="174894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CVPR 2016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39901" y="1098352"/>
            <a:ext cx="1968698" cy="1694706"/>
          </a:xfrm>
          <a:prstGeom prst="roundRect">
            <a:avLst>
              <a:gd name="adj" fmla="val 3747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2539901" y="1117402"/>
            <a:ext cx="1968698" cy="0"/>
          </a:xfrm>
          <a:prstGeom prst="line">
            <a:avLst/>
          </a:prstGeom>
          <a:noFill/>
          <a:ln w="38100">
            <a:solidFill>
              <a:srgbClr val="388E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66851" y="1263402"/>
            <a:ext cx="17490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VGG16 (Simonyan 2015)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66851" y="1466552"/>
            <a:ext cx="1749094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3x3 convolutions, simple but effective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66851" y="1818382"/>
            <a:ext cx="1749094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</a:t>
            </a:r>
            <a:pPr algn="l" indent="0" marL="0">
              <a:lnSpc>
                <a:spcPts val="1235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Baseline reference architecture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666851" y="2170212"/>
            <a:ext cx="174909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2015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35550" y="1098352"/>
            <a:ext cx="1968550" cy="1694706"/>
          </a:xfrm>
          <a:prstGeom prst="roundRect">
            <a:avLst>
              <a:gd name="adj" fmla="val 3747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35550" y="1117402"/>
            <a:ext cx="1968550" cy="0"/>
          </a:xfrm>
          <a:prstGeom prst="line">
            <a:avLst/>
          </a:prstGeom>
          <a:noFill/>
          <a:ln w="38100">
            <a:solidFill>
              <a:srgbClr val="1976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62500" y="1263402"/>
            <a:ext cx="17489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 (Sandler 2018)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62500" y="1618952"/>
            <a:ext cx="1748942" cy="470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Depthwise separable convolutions + inverted residuals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762500" y="2127647"/>
            <a:ext cx="1748942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</a:t>
            </a:r>
            <a:pPr algn="l" indent="0" marL="0">
              <a:lnSpc>
                <a:spcPts val="1235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Lightweight for edge deployment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62500" y="2479477"/>
            <a:ext cx="174894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CVPR 2018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731050" y="1098352"/>
            <a:ext cx="1968550" cy="1694706"/>
          </a:xfrm>
          <a:prstGeom prst="roundRect">
            <a:avLst>
              <a:gd name="adj" fmla="val 3747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6731050" y="1117402"/>
            <a:ext cx="196855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0" y="1263402"/>
            <a:ext cx="17489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 (Tan 2019)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858000" y="1466552"/>
            <a:ext cx="1748942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scaling: depth + width + resolution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858000" y="1818382"/>
            <a:ext cx="1748942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</a:t>
            </a:r>
            <a:pPr algn="l" indent="0" marL="0">
              <a:lnSpc>
                <a:spcPts val="1235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Best accuracy-efficiency tradeoff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858000" y="2170212"/>
            <a:ext cx="174894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ICML 2019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44401" y="2894558"/>
            <a:ext cx="8255198" cy="601266"/>
          </a:xfrm>
          <a:prstGeom prst="roundRect">
            <a:avLst>
              <a:gd name="adj" fmla="val 10561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68213" y="2894558"/>
            <a:ext cx="0" cy="601266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8976" y="3021509"/>
            <a:ext cx="81127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(Selvaraju et al. 2017) — Model Interpretability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18976" y="3212009"/>
            <a:ext cx="8112746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Gradient-weighted class activation maps on last conv layer. Essential for trust in automated waste sorting decisions. IEEE ICCV 2017.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header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55525"/>
            <a:ext cx="495627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Review: Transfer Learning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44401" y="825401"/>
            <a:ext cx="40806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Domain-Specific Research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44401" y="1161901"/>
            <a:ext cx="4000649" cy="858143"/>
          </a:xfrm>
          <a:prstGeom prst="roundRect">
            <a:avLst>
              <a:gd name="adj" fmla="val 74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71351" y="1288852"/>
            <a:ext cx="382168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Waste Sorting (2025)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351" y="1508522"/>
            <a:ext cx="382168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Reports — validates active research in AI-based waste classification systems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4401" y="2121545"/>
            <a:ext cx="4000649" cy="858143"/>
          </a:xfrm>
          <a:prstGeom prst="roundRect">
            <a:avLst>
              <a:gd name="adj" fmla="val 74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71351" y="2248495"/>
            <a:ext cx="382168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Waste Classification (2024)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351" y="2468166"/>
            <a:ext cx="382168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IJACSA — confirms CNN approach effectiveness for waste categorization tasks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4401" y="3081189"/>
            <a:ext cx="4000649" cy="858143"/>
          </a:xfrm>
          <a:prstGeom prst="roundRect">
            <a:avLst>
              <a:gd name="adj" fmla="val 74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71351" y="3208139"/>
            <a:ext cx="382168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 (Deng et al. 2009)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1351" y="3427809"/>
            <a:ext cx="382168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all pretrained weights used in transfer learning across domains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698950" y="825401"/>
            <a:ext cx="40806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Transfer Learning Works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98950" y="1161901"/>
            <a:ext cx="4000649" cy="1485602"/>
          </a:xfrm>
          <a:prstGeom prst="roundRect">
            <a:avLst>
              <a:gd name="adj" fmla="val 5129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76651" y="1339602"/>
            <a:ext cx="371815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ImageNet does not contain waste classes, but low-level features transfer across domains.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76651" y="1806922"/>
            <a:ext cx="371815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Edges, textures, color patterns, and shapes learned from millions of ImageNet images serve as powerful general-purpose features.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98950" y="2749004"/>
            <a:ext cx="1121420" cy="438150"/>
          </a:xfrm>
          <a:prstGeom prst="roundRect">
            <a:avLst>
              <a:gd name="adj" fmla="val 11594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17226" y="2825204"/>
            <a:ext cx="8848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 Pretrained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21871" y="2849017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26522" y="2749004"/>
            <a:ext cx="990898" cy="438150"/>
          </a:xfrm>
          <a:prstGeom prst="roundRect">
            <a:avLst>
              <a:gd name="adj" fmla="val 11594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346103" y="2825204"/>
            <a:ext cx="7517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Backbone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18921" y="2849017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623572" y="2749004"/>
            <a:ext cx="1076027" cy="438150"/>
          </a:xfrm>
          <a:prstGeom prst="roundRect">
            <a:avLst>
              <a:gd name="adj" fmla="val 11594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7742301" y="2825204"/>
            <a:ext cx="8385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for Waste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698950" y="3288655"/>
            <a:ext cx="4000649" cy="1018282"/>
          </a:xfrm>
          <a:prstGeom prst="roundRect">
            <a:avLst>
              <a:gd name="adj" fmla="val 7483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876651" y="3466356"/>
            <a:ext cx="371815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</a:t>
            </a:r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Added EfficientNet-B3 after initial models plateaued at 80-83%. Compound scaling delivered 93.96%.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header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55525"/>
            <a:ext cx="237589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1000" y="787301"/>
            <a:ext cx="4498330" cy="539353"/>
          </a:xfrm>
          <a:prstGeom prst="roundRect">
            <a:avLst>
              <a:gd name="adj" fmla="val 1177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07950" y="888802"/>
            <a:ext cx="43293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</a:t>
            </a:r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Garbage Classification V2 (Kaggle)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7950" y="1056977"/>
            <a:ext cx="43293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</a:t>
            </a:r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13,347 RGB images | </a:t>
            </a:r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Resolution:</a:t>
            </a:r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256x256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81000" y="1428155"/>
            <a:ext cx="45882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Waste Categories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1000" y="1704380"/>
            <a:ext cx="1200448" cy="234851"/>
          </a:xfrm>
          <a:prstGeom prst="roundRect">
            <a:avLst>
              <a:gd name="adj" fmla="val 21631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69850" y="1755130"/>
            <a:ext cx="10432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(Hazardous)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644848" y="1704380"/>
            <a:ext cx="1448395" cy="234851"/>
          </a:xfrm>
          <a:prstGeom prst="roundRect">
            <a:avLst>
              <a:gd name="adj" fmla="val 2163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733699" y="1755130"/>
            <a:ext cx="12961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(Compostable)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1000" y="1989981"/>
            <a:ext cx="717798" cy="234851"/>
          </a:xfrm>
          <a:prstGeom prst="roundRect">
            <a:avLst>
              <a:gd name="adj" fmla="val 216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69850" y="2040731"/>
            <a:ext cx="550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Cardboard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62199" y="1989981"/>
            <a:ext cx="565249" cy="234851"/>
          </a:xfrm>
          <a:prstGeom prst="roundRect">
            <a:avLst>
              <a:gd name="adj" fmla="val 216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251049" y="2040731"/>
            <a:ext cx="3952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790849" y="1989981"/>
            <a:ext cx="469999" cy="234851"/>
          </a:xfrm>
          <a:prstGeom prst="roundRect">
            <a:avLst>
              <a:gd name="adj" fmla="val 216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879699" y="2040731"/>
            <a:ext cx="2981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324249" y="1989981"/>
            <a:ext cx="457200" cy="234851"/>
          </a:xfrm>
          <a:prstGeom prst="roundRect">
            <a:avLst>
              <a:gd name="adj" fmla="val 216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413099" y="2040731"/>
            <a:ext cx="2850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81000" y="2275582"/>
            <a:ext cx="482798" cy="234851"/>
          </a:xfrm>
          <a:prstGeom prst="roundRect">
            <a:avLst>
              <a:gd name="adj" fmla="val 216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69850" y="2326332"/>
            <a:ext cx="311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27199" y="2275582"/>
            <a:ext cx="514350" cy="234851"/>
          </a:xfrm>
          <a:prstGeom prst="roundRect">
            <a:avLst>
              <a:gd name="adj" fmla="val 216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016050" y="2326332"/>
            <a:ext cx="3433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Plastic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504950" y="2275582"/>
            <a:ext cx="971996" cy="234851"/>
          </a:xfrm>
          <a:prstGeom prst="roundRect">
            <a:avLst>
              <a:gd name="adj" fmla="val 21631"/>
            </a:avLst>
          </a:prstGeom>
          <a:solidFill>
            <a:srgbClr val="6161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593800" y="2326332"/>
            <a:ext cx="8101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Shoes (Landfill)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540347" y="2275582"/>
            <a:ext cx="935831" cy="234851"/>
          </a:xfrm>
          <a:prstGeom prst="roundRect">
            <a:avLst>
              <a:gd name="adj" fmla="val 21631"/>
            </a:avLst>
          </a:prstGeom>
          <a:solidFill>
            <a:srgbClr val="6161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2629198" y="2326332"/>
            <a:ext cx="773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Trash (Landfill)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81000" y="2561183"/>
            <a:ext cx="45882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= Recyclable | Green = Compostable | Red = Hazardous | Gray = Landfill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82480" y="787301"/>
            <a:ext cx="37541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Split (seed=42)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82480" y="1063526"/>
            <a:ext cx="3680520" cy="717203"/>
          </a:xfrm>
          <a:prstGeom prst="roundRect">
            <a:avLst>
              <a:gd name="adj" fmla="val 885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183981" y="1165027"/>
            <a:ext cx="1108323" cy="463451"/>
          </a:xfrm>
          <a:prstGeom prst="roundRect">
            <a:avLst>
              <a:gd name="adj" fmla="val 10961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50622" y="1241227"/>
            <a:ext cx="9750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250622" y="1418927"/>
            <a:ext cx="975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9,343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368504" y="1165027"/>
            <a:ext cx="1108472" cy="463451"/>
          </a:xfrm>
          <a:prstGeom prst="roundRect">
            <a:avLst>
              <a:gd name="adj" fmla="val 10961"/>
            </a:avLst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435144" y="1241227"/>
            <a:ext cx="9751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5144" y="1418927"/>
            <a:ext cx="9751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Val: 2,002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553176" y="1165027"/>
            <a:ext cx="1108323" cy="463451"/>
          </a:xfrm>
          <a:prstGeom prst="roundRect">
            <a:avLst>
              <a:gd name="adj" fmla="val 10961"/>
            </a:avLst>
          </a:prstGeom>
          <a:solidFill>
            <a:srgbClr val="F57C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7619817" y="1241227"/>
            <a:ext cx="9750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619817" y="1418927"/>
            <a:ext cx="975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2,003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082480" y="1856929"/>
            <a:ext cx="3680520" cy="938808"/>
          </a:xfrm>
          <a:prstGeom prst="roundRect">
            <a:avLst>
              <a:gd name="adj" fmla="val 6764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5101530" y="1856929"/>
            <a:ext cx="0" cy="938808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222081" y="1958429"/>
            <a:ext cx="3508206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Stratified:</a:t>
            </a:r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sklearn train_test_split with stratify parameter ensures proportional class representation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222081" y="2326332"/>
            <a:ext cx="3508206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Reproducible:</a:t>
            </a:r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Fixed seed=42 for consistent splits across experiments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082480" y="2871936"/>
            <a:ext cx="3680520" cy="570905"/>
          </a:xfrm>
          <a:prstGeom prst="roundRect">
            <a:avLst>
              <a:gd name="adj" fmla="val 11123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5101530" y="2871936"/>
            <a:ext cx="0" cy="570905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22081" y="2973437"/>
            <a:ext cx="3508206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Imbalance:</a:t>
            </a:r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Handled via balanced class weights (sklearn compute_class_weight)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header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55525"/>
            <a:ext cx="384809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 Pipeline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44401" y="787301"/>
            <a:ext cx="4093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Steps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44401" y="1088827"/>
            <a:ext cx="4013299" cy="1625203"/>
          </a:xfrm>
          <a:prstGeom prst="roundRect">
            <a:avLst>
              <a:gd name="adj" fmla="val 390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71351" y="121577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61095" y="1266527"/>
            <a:ext cx="75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26753" y="1266527"/>
            <a:ext cx="27822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</a:t>
            </a:r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images to 224x224 (CNN standard)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351" y="154587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1095" y="1596628"/>
            <a:ext cx="75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26753" y="1596628"/>
            <a:ext cx="22758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pixel values to [0, 1] range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351" y="190142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1095" y="1952179"/>
            <a:ext cx="75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26753" y="1875979"/>
            <a:ext cx="34720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BackbonePreprocess</a:t>
            </a:r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 Keras layer for model-specific ImageNet standardization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351" y="225697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61095" y="2307729"/>
            <a:ext cx="757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26753" y="2307729"/>
            <a:ext cx="30969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tf.data pipeline:</a:t>
            </a:r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cache, shuffle, batch(32), prefetch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44401" y="2815530"/>
            <a:ext cx="4013299" cy="488752"/>
          </a:xfrm>
          <a:prstGeom prst="roundRect">
            <a:avLst>
              <a:gd name="adj" fmla="val 10394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63451" y="2815530"/>
            <a:ext cx="0" cy="488752"/>
          </a:xfrm>
          <a:prstGeom prst="line">
            <a:avLst/>
          </a:prstGeom>
          <a:noFill/>
          <a:ln w="38100">
            <a:solidFill>
              <a:srgbClr val="F57C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002" y="2917031"/>
            <a:ext cx="38476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Engineering:</a:t>
            </a:r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BackbonePreprocess is a custom serializable Keras layer — avoids Lambda issues, makes models self-contained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86300" y="787301"/>
            <a:ext cx="4093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 (Training Only)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686300" y="1088827"/>
            <a:ext cx="1014413" cy="295275"/>
          </a:xfrm>
          <a:prstGeom prst="roundRect">
            <a:avLst>
              <a:gd name="adj" fmla="val 172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87801" y="1165027"/>
            <a:ext cx="8276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Flip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764113" y="1088827"/>
            <a:ext cx="972889" cy="295275"/>
          </a:xfrm>
          <a:prstGeom prst="roundRect">
            <a:avLst>
              <a:gd name="adj" fmla="val 172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865614" y="1165027"/>
            <a:ext cx="7852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±20°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800404" y="1088827"/>
            <a:ext cx="886569" cy="295275"/>
          </a:xfrm>
          <a:prstGeom prst="roundRect">
            <a:avLst>
              <a:gd name="adj" fmla="val 172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901904" y="1165027"/>
            <a:ext cx="697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±20%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686300" y="1447502"/>
            <a:ext cx="1161901" cy="295275"/>
          </a:xfrm>
          <a:prstGeom prst="roundRect">
            <a:avLst>
              <a:gd name="adj" fmla="val 172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787801" y="1523702"/>
            <a:ext cx="978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Brightness ±20%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911602" y="1447502"/>
            <a:ext cx="1041946" cy="295275"/>
          </a:xfrm>
          <a:prstGeom prst="roundRect">
            <a:avLst>
              <a:gd name="adj" fmla="val 1720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013103" y="1523702"/>
            <a:ext cx="8557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±20%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686300" y="1844278"/>
            <a:ext cx="4013299" cy="1523107"/>
          </a:xfrm>
          <a:prstGeom prst="roundRect">
            <a:avLst>
              <a:gd name="adj" fmla="val 4169"/>
            </a:avLst>
          </a:prstGeom>
          <a:solidFill>
            <a:srgbClr val="263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813250" y="1971229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 = tf.data.Dataset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813250" y="2129879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.from_tensor_slices((paths, labels))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813250" y="2288530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.map(load_and_preprocess)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813250" y="2447181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.map(augment)  # train only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813250" y="2605832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.cache()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13250" y="2764482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.shuffle(buffer_size)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813250" y="2923133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.batch(32)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813250" y="3081784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.prefetch(AUTOTUNE)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686300" y="3468886"/>
            <a:ext cx="4013299" cy="488752"/>
          </a:xfrm>
          <a:prstGeom prst="roundRect">
            <a:avLst>
              <a:gd name="adj" fmla="val 10394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4705350" y="3468886"/>
            <a:ext cx="0" cy="488752"/>
          </a:xfrm>
          <a:prstGeom prst="line">
            <a:avLst/>
          </a:prstGeom>
          <a:noFill/>
          <a:ln w="38100">
            <a:solidFill>
              <a:srgbClr val="F57C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25901" y="3570387"/>
            <a:ext cx="38476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Augmentation applied only during training. Validation and test sets remain unaugmented.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header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55525"/>
            <a:ext cx="61005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Transfer Learning Architecture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1000" y="787301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Architecture (All 4 Models)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05594" y="1088827"/>
            <a:ext cx="731044" cy="406301"/>
          </a:xfrm>
          <a:prstGeom prst="roundRect">
            <a:avLst>
              <a:gd name="adj" fmla="val 15629"/>
            </a:avLst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1815" y="1177677"/>
            <a:ext cx="5386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224x224x3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487388" y="1206252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90539" y="1088827"/>
            <a:ext cx="592931" cy="406301"/>
          </a:xfrm>
          <a:prstGeom prst="roundRect">
            <a:avLst>
              <a:gd name="adj" fmla="val 15629"/>
            </a:avLst>
          </a:prstGeom>
          <a:solidFill>
            <a:srgbClr val="F57C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788140" y="1177677"/>
            <a:ext cx="397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Rescale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x255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334220" y="1206252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37371" y="1088827"/>
            <a:ext cx="748754" cy="406301"/>
          </a:xfrm>
          <a:prstGeom prst="roundRect">
            <a:avLst>
              <a:gd name="adj" fmla="val 15629"/>
            </a:avLst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633414" y="1177677"/>
            <a:ext cx="556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336875" y="1206252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40026" y="1088827"/>
            <a:ext cx="1218902" cy="406301"/>
          </a:xfrm>
          <a:prstGeom prst="roundRect">
            <a:avLst>
              <a:gd name="adj" fmla="val 15629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631368" y="1177677"/>
            <a:ext cx="10362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Backbone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(ImageNet)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809679" y="1206252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12829" y="1088827"/>
            <a:ext cx="723007" cy="406301"/>
          </a:xfrm>
          <a:prstGeom prst="roundRect">
            <a:avLst>
              <a:gd name="adj" fmla="val 15629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109130" y="1177677"/>
            <a:ext cx="5304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786586" y="1206252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89737" y="1088827"/>
            <a:ext cx="688925" cy="406301"/>
          </a:xfrm>
          <a:prstGeom prst="roundRect">
            <a:avLst>
              <a:gd name="adj" fmla="val 15629"/>
            </a:avLst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086378" y="1177677"/>
            <a:ext cx="4956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ReLU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729413" y="1206252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932563" y="1088827"/>
            <a:ext cx="586978" cy="406301"/>
          </a:xfrm>
          <a:prstGeom prst="roundRect">
            <a:avLst>
              <a:gd name="adj" fmla="val 15629"/>
            </a:avLst>
          </a:prstGeom>
          <a:solidFill>
            <a:srgbClr val="7B1F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030224" y="1177677"/>
            <a:ext cx="391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570291" y="1206252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773442" y="1088827"/>
            <a:ext cx="664964" cy="406301"/>
          </a:xfrm>
          <a:prstGeom prst="roundRect">
            <a:avLst>
              <a:gd name="adj" fmla="val 15629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870323" y="1177677"/>
            <a:ext cx="471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10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81000" y="1672828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81000" y="1974354"/>
            <a:ext cx="8382000" cy="1911251"/>
          </a:xfrm>
          <a:prstGeom prst="roundRect">
            <a:avLst>
              <a:gd name="adj" fmla="val 3987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07950" y="2101304"/>
            <a:ext cx="8128099" cy="30480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507950" y="2401342"/>
            <a:ext cx="81280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9451" y="2177504"/>
            <a:ext cx="1790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568327" y="2177504"/>
            <a:ext cx="14923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234458" y="2177504"/>
            <a:ext cx="2686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071271" y="2177504"/>
            <a:ext cx="14925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Unfrozen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07950" y="2406104"/>
            <a:ext cx="8128099" cy="4476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507950" y="2849017"/>
            <a:ext cx="81280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9451" y="2482304"/>
            <a:ext cx="1790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EfficientNet-B3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2568327" y="2482304"/>
            <a:ext cx="14923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11.2M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234458" y="2482304"/>
            <a:ext cx="26864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scaling (depth + width + resolution)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071271" y="2482304"/>
            <a:ext cx="14925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07950" y="3153817"/>
            <a:ext cx="81280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09451" y="2929979"/>
            <a:ext cx="1790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2568327" y="2929979"/>
            <a:ext cx="14923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24.1M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234458" y="2929979"/>
            <a:ext cx="2686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Residual/skip connections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071271" y="2929979"/>
            <a:ext cx="14925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07950" y="3458617"/>
            <a:ext cx="81280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09451" y="3234779"/>
            <a:ext cx="1790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VGG16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2568327" y="3234779"/>
            <a:ext cx="14923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14.8M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4234458" y="3234779"/>
            <a:ext cx="2686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3x3 convolutions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7071271" y="3234779"/>
            <a:ext cx="14925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09451" y="3539579"/>
            <a:ext cx="1790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2568327" y="3539579"/>
            <a:ext cx="14923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2.6M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4234458" y="3539579"/>
            <a:ext cx="2686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Depthwise separable convolutions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7071271" y="3539579"/>
            <a:ext cx="14925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header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55525"/>
            <a:ext cx="46171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Two-Phase Training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44401" y="787301"/>
            <a:ext cx="4093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Strategy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44401" y="1088827"/>
            <a:ext cx="4013299" cy="1351657"/>
          </a:xfrm>
          <a:prstGeom prst="roundRect">
            <a:avLst>
              <a:gd name="adj" fmla="val 5638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68213" y="1088827"/>
            <a:ext cx="0" cy="1351657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426" y="1241227"/>
            <a:ext cx="37340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Head Training (10 epochs)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4426" y="1476077"/>
            <a:ext cx="373409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entire backbone (ImageNet weights locked)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4426" y="1679079"/>
            <a:ext cx="373409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only classification head (GAP + Dense layers)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4426" y="1882080"/>
            <a:ext cx="373409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rate: 1e-3 (Adam optimizer)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4426" y="2085082"/>
            <a:ext cx="373409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Map backbone features to 10 waste categories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4401" y="2567434"/>
            <a:ext cx="4013299" cy="1148655"/>
          </a:xfrm>
          <a:prstGeom prst="roundRect">
            <a:avLst>
              <a:gd name="adj" fmla="val 6634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68213" y="2567434"/>
            <a:ext cx="0" cy="1148655"/>
          </a:xfrm>
          <a:prstGeom prst="line">
            <a:avLst/>
          </a:prstGeom>
          <a:noFill/>
          <a:ln w="47625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426" y="2719834"/>
            <a:ext cx="37340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Fine-Tuning (20 epochs)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4426" y="2954685"/>
            <a:ext cx="373409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Unfreeze last N layers of backbone (varies per model)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4426" y="3157686"/>
            <a:ext cx="373409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learning rate to 1e-5 (prevent catastrophic forgetting)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4426" y="3360688"/>
            <a:ext cx="373409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high-level features to waste domain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44401" y="3843040"/>
            <a:ext cx="4013299" cy="631627"/>
          </a:xfrm>
          <a:prstGeom prst="roundRect">
            <a:avLst>
              <a:gd name="adj" fmla="val 8043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63451" y="3843040"/>
            <a:ext cx="0" cy="631627"/>
          </a:xfrm>
          <a:prstGeom prst="line">
            <a:avLst/>
          </a:prstGeom>
          <a:noFill/>
          <a:ln w="38100">
            <a:solidFill>
              <a:srgbClr val="F57C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002" y="3944541"/>
            <a:ext cx="384764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</a:t>
            </a:r>
            <a:pPr algn="l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BatchNormalization layers remain frozen — with small batch sizes (32/16), BN statistics would be noisy. Frozen BN preserves stable ImageNet statistics.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86300" y="787301"/>
            <a:ext cx="4093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686300" y="1088827"/>
            <a:ext cx="4013299" cy="1650802"/>
          </a:xfrm>
          <a:prstGeom prst="roundRect">
            <a:avLst>
              <a:gd name="adj" fmla="val 3847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87801" y="1190327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057751" y="1190327"/>
            <a:ext cx="19790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SparseCategoricalCrossentropy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87801" y="1371302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057751" y="1371302"/>
            <a:ext cx="3597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87801" y="1552277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EarlyStopping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057751" y="1552277"/>
            <a:ext cx="15944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patience=10, restore_best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787801" y="1733252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Reduction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057751" y="1733252"/>
            <a:ext cx="1360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factor=0.5, patience=5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787801" y="1914227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057751" y="1914227"/>
            <a:ext cx="13137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save_best_only=True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787801" y="2095202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057751" y="2095202"/>
            <a:ext cx="10867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(16 for VGG16)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787801" y="2276177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057751" y="2276177"/>
            <a:ext cx="14415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RTX 4050 (6GB)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787801" y="2457152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057751" y="2457152"/>
            <a:ext cx="11130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2.20.0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686300" y="2815828"/>
            <a:ext cx="4013299" cy="488752"/>
          </a:xfrm>
          <a:prstGeom prst="roundRect">
            <a:avLst>
              <a:gd name="adj" fmla="val 10394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7"/>
          <p:cNvSpPr/>
          <p:nvPr/>
        </p:nvSpPr>
        <p:spPr>
          <a:xfrm>
            <a:off x="4705350" y="2815828"/>
            <a:ext cx="0" cy="488752"/>
          </a:xfrm>
          <a:prstGeom prst="line">
            <a:avLst/>
          </a:prstGeom>
          <a:noFill/>
          <a:ln w="38100">
            <a:solidFill>
              <a:srgbClr val="F57C0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25901" y="2917329"/>
            <a:ext cx="38476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</a:t>
            </a:r>
            <a:pPr algn="l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Models trained in separate subprocesses to fully release GPU memory between runs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header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55525"/>
            <a:ext cx="54139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Grad-CAM Interpretability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44401" y="787301"/>
            <a:ext cx="4093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Grad-CAM Works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44401" y="112380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8729" y="119196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5252" y="1123801"/>
            <a:ext cx="28501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pass</a:t>
            </a:r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get last conv layer activations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4401" y="15046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8729" y="1572816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5252" y="1504652"/>
            <a:ext cx="370509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gradients</a:t>
            </a:r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predicted class w.r.t. feature maps via tf.GradientTape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4401" y="195262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48729" y="2020788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5252" y="1952625"/>
            <a:ext cx="370509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average pool</a:t>
            </a:r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gradients to get importance weights per channel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44401" y="240059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8729" y="246876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5252" y="2400598"/>
            <a:ext cx="33009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feature maps by importance weights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44401" y="278144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48729" y="2849612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5252" y="2781449"/>
            <a:ext cx="32471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+ normalize</a:t>
            </a:r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[0,1], resize to input dimensions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44401" y="316230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48729" y="323046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5252" y="3162300"/>
            <a:ext cx="370509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</a:t>
            </a:r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heatmap using cv2 COLORMAP_JET with alpha blending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686300" y="787301"/>
            <a:ext cx="4093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Grad-CAM Matters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686300" y="1123801"/>
            <a:ext cx="4013299" cy="1668363"/>
          </a:xfrm>
          <a:prstGeom prst="roundRect">
            <a:avLst>
              <a:gd name="adj" fmla="val 456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38700" y="1276201"/>
            <a:ext cx="378266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Trust:</a:t>
            </a:r>
            <a:pPr algn="l" indent="0" marL="0">
              <a:lnSpc>
                <a:spcPts val="154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Shows WHERE the model looks when classifying waste — essential for building trust in automated sorting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838700" y="1730722"/>
            <a:ext cx="378266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Debugging:</a:t>
            </a:r>
            <a:pPr algn="l" indent="0" marL="0">
              <a:lnSpc>
                <a:spcPts val="154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Reveals when the model focuses on background instead of the object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38700" y="2185243"/>
            <a:ext cx="378266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</a:t>
            </a:r>
            <a:pPr algn="l" indent="0" marL="0">
              <a:lnSpc>
                <a:spcPts val="154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Confirms model learns meaningful features, not shortcuts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686300" y="2919115"/>
            <a:ext cx="4013299" cy="615851"/>
          </a:xfrm>
          <a:prstGeom prst="roundRect">
            <a:avLst>
              <a:gd name="adj" fmla="val 10311"/>
            </a:avLst>
          </a:prstGeom>
          <a:solidFill>
            <a:srgbClr val="2632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775656" y="3046065"/>
            <a:ext cx="3834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heatmap = ReLU( sum( weights_k * A_k ) 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75656" y="3227040"/>
            <a:ext cx="3834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weights_k = GAP( dY/dA_k 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686300" y="3636466"/>
            <a:ext cx="4013299" cy="631627"/>
          </a:xfrm>
          <a:prstGeom prst="roundRect">
            <a:avLst>
              <a:gd name="adj" fmla="val 8043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705350" y="3636466"/>
            <a:ext cx="0" cy="631627"/>
          </a:xfrm>
          <a:prstGeom prst="line">
            <a:avLst/>
          </a:prstGeom>
          <a:noFill/>
          <a:ln w="38100">
            <a:solidFill>
              <a:srgbClr val="F57C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25901" y="3737967"/>
            <a:ext cx="384764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handles nested models:</a:t>
            </a:r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find_last_conv_layer() traverses both flat CNN and transfer learning architectures automatically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header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55525"/>
            <a:ext cx="384764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Model Performance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005905" y="787301"/>
            <a:ext cx="2031504" cy="441127"/>
          </a:xfrm>
          <a:prstGeom prst="roundRect">
            <a:avLst>
              <a:gd name="adj" fmla="val 17274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228106" y="907852"/>
            <a:ext cx="1618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85% accuracy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189809" y="874514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0809" y="806351"/>
            <a:ext cx="2567136" cy="403027"/>
          </a:xfrm>
          <a:prstGeom prst="roundRect">
            <a:avLst>
              <a:gd name="adj" fmla="val 18907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773960" y="907852"/>
            <a:ext cx="22040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Achieved: 93.96% (+9 points)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81000" y="3819079"/>
            <a:ext cx="2019300" cy="533102"/>
          </a:xfrm>
          <a:prstGeom prst="roundRect">
            <a:avLst>
              <a:gd name="adj" fmla="val 11911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64338" y="3920579"/>
            <a:ext cx="18526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93.96%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4338" y="4092029"/>
            <a:ext cx="18526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EfficientNet-B3 (11.2M)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501801" y="3819079"/>
            <a:ext cx="2019449" cy="533102"/>
          </a:xfrm>
          <a:prstGeom prst="roundRect">
            <a:avLst>
              <a:gd name="adj" fmla="val 11911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585137" y="3920579"/>
            <a:ext cx="18527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82.93%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85137" y="4092029"/>
            <a:ext cx="18527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 (24.1M)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622750" y="3819079"/>
            <a:ext cx="2019300" cy="533102"/>
          </a:xfrm>
          <a:prstGeom prst="roundRect">
            <a:avLst>
              <a:gd name="adj" fmla="val 11911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706088" y="3920579"/>
            <a:ext cx="18526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81.73%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06088" y="4092029"/>
            <a:ext cx="18526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 (2.6M)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743551" y="3819079"/>
            <a:ext cx="2019449" cy="533102"/>
          </a:xfrm>
          <a:prstGeom prst="roundRect">
            <a:avLst>
              <a:gd name="adj" fmla="val 11911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826887" y="3920579"/>
            <a:ext cx="18527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80.33%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26887" y="4092029"/>
            <a:ext cx="18527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VGG16 (14.8M)</a:t>
            </a:r>
            <a:endParaRPr lang="en-US" sz="9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81000" y="1406128"/>
          <a:ext cx="8382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header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55525"/>
            <a:ext cx="299237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Key Findings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44401" y="787301"/>
            <a:ext cx="4093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44401" y="1088827"/>
            <a:ext cx="4013299" cy="849809"/>
          </a:xfrm>
          <a:prstGeom prst="roundRect">
            <a:avLst>
              <a:gd name="adj" fmla="val 747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63451" y="1088827"/>
            <a:ext cx="0" cy="849809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9451" y="1215777"/>
            <a:ext cx="37957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EfficientNet-B3 dominates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9451" y="1427113"/>
            <a:ext cx="379572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 accuracy gap over ResNet50 — compound scaling (depth + width + resolution) is the key differentiator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44401" y="2040136"/>
            <a:ext cx="4013299" cy="849809"/>
          </a:xfrm>
          <a:prstGeom prst="roundRect">
            <a:avLst>
              <a:gd name="adj" fmla="val 747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3451" y="2040136"/>
            <a:ext cx="0" cy="849809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9451" y="2167086"/>
            <a:ext cx="37957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parameters ≠ better accuracy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9451" y="2378422"/>
            <a:ext cx="379572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VGG16 (14.8M params) performs worst despite 5x more parameters than MobileNetV2 (2.6M)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44401" y="2991445"/>
            <a:ext cx="4013299" cy="676573"/>
          </a:xfrm>
          <a:prstGeom prst="roundRect">
            <a:avLst>
              <a:gd name="adj" fmla="val 93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63451" y="2991445"/>
            <a:ext cx="0" cy="676573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9451" y="3118396"/>
            <a:ext cx="37957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achieve real-time inference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9451" y="3329732"/>
            <a:ext cx="37957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100ms per image — interactive classification is feasible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86300" y="787301"/>
            <a:ext cx="4093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Analysis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686300" y="1088827"/>
            <a:ext cx="4013299" cy="1402705"/>
          </a:xfrm>
          <a:prstGeom prst="roundRect">
            <a:avLst>
              <a:gd name="adj" fmla="val 4527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686300" y="1088827"/>
            <a:ext cx="4013299" cy="244376"/>
          </a:xfrm>
          <a:prstGeom prst="roundRect">
            <a:avLst>
              <a:gd name="adj" fmla="val 1559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787801" y="1139577"/>
            <a:ext cx="38865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per Million Parameters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87801" y="1633091"/>
            <a:ext cx="38102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87801" y="1434703"/>
            <a:ext cx="23318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043467" y="1434703"/>
            <a:ext cx="1554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31.4% / M (best)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87801" y="1886992"/>
            <a:ext cx="38102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87801" y="1688604"/>
            <a:ext cx="23318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043467" y="1688604"/>
            <a:ext cx="1554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 / M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7801" y="2140893"/>
            <a:ext cx="38102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87801" y="1942505"/>
            <a:ext cx="23318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VGG16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043467" y="1942505"/>
            <a:ext cx="1554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 / M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87801" y="2196405"/>
            <a:ext cx="23318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043467" y="2196405"/>
            <a:ext cx="1554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 / M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686300" y="2593032"/>
            <a:ext cx="4013299" cy="1015901"/>
          </a:xfrm>
          <a:prstGeom prst="roundRect">
            <a:avLst>
              <a:gd name="adj" fmla="val 6251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4705350" y="2593032"/>
            <a:ext cx="0" cy="1015901"/>
          </a:xfrm>
          <a:prstGeom prst="line">
            <a:avLst/>
          </a:prstGeom>
          <a:noFill/>
          <a:ln w="38100">
            <a:solidFill>
              <a:srgbClr val="F57C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51350" y="2719983"/>
            <a:ext cx="3795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Confusion Patterns: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851350" y="2910483"/>
            <a:ext cx="3795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Clothes ↔ Shoes (both fabric/leather)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851350" y="3100983"/>
            <a:ext cx="3795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↔ Cardboard (similar texture)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851350" y="3291483"/>
            <a:ext cx="3795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Trash ↔ specific categories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header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55525"/>
            <a:ext cx="458632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Grad-CAM Visualizations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1000" y="787301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Attention Analysis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81000" y="1088827"/>
            <a:ext cx="2692301" cy="355402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82501" y="1190327"/>
            <a:ext cx="25390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Predictions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1000" y="1444228"/>
            <a:ext cx="2692301" cy="15238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83566" y="2063204"/>
            <a:ext cx="24871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[Insert: outputs/gradcam/correct_predictions.png]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1000" y="2968079"/>
            <a:ext cx="2692301" cy="673596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2501" y="3069580"/>
            <a:ext cx="2539085" cy="470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focuses on discriminative object features: bottle shape for glass, woven texture for clothes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225701" y="1088827"/>
            <a:ext cx="2692450" cy="355402"/>
          </a:xfrm>
          <a:prstGeom prst="rect">
            <a:avLst/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327202" y="1190327"/>
            <a:ext cx="25392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 Predictions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25701" y="1444228"/>
            <a:ext cx="2692450" cy="15238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328266" y="2063204"/>
            <a:ext cx="24873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[Insert: outputs/gradcam/incorrect_predictions.png]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25701" y="2968079"/>
            <a:ext cx="2692450" cy="516731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327202" y="3069580"/>
            <a:ext cx="2539237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drifts to background textures or ambiguous regions on misclassified samples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070550" y="1088827"/>
            <a:ext cx="2692450" cy="355402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172051" y="1190327"/>
            <a:ext cx="25392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Cross-Class Comparison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70550" y="1444228"/>
            <a:ext cx="2692450" cy="152385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063664" y="2063204"/>
            <a:ext cx="27062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[Insert: outputs/gradcam/cross_class_comparison.png]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70550" y="2968079"/>
            <a:ext cx="2692450" cy="516731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172051" y="3069580"/>
            <a:ext cx="2539237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original vs. heatmap overlay for top categories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81000" y="3768626"/>
            <a:ext cx="8382000" cy="746671"/>
          </a:xfrm>
          <a:prstGeom prst="roundRect">
            <a:avLst>
              <a:gd name="adj" fmla="val 1020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33400" y="3921026"/>
            <a:ext cx="823874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154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Grad-CAM confirms the model learns meaningful waste features, not dataset shortcuts. On failures, the model attends to background — suggesting background context contributes to errors on visually similar classes.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header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679"/>
            <a:ext cx="9144000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52846"/>
            <a:ext cx="417933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Gradio Web Application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1000" y="756493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Feature-Rich Tabs (900+ lines of code)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81000" y="1058019"/>
            <a:ext cx="4152900" cy="1190476"/>
          </a:xfrm>
          <a:prstGeom prst="roundRect">
            <a:avLst>
              <a:gd name="adj" fmla="val 6401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81000" y="1077069"/>
            <a:ext cx="4152900" cy="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7950" y="1223070"/>
            <a:ext cx="39769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Classify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7950" y="1426220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or webcam capture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7950" y="1600051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confidence scores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7950" y="1773882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heatmap overlay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7950" y="1947714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Disposal guidance + AI advice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10100" y="1058019"/>
            <a:ext cx="4152900" cy="1190476"/>
          </a:xfrm>
          <a:prstGeom prst="roundRect">
            <a:avLst>
              <a:gd name="adj" fmla="val 6401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610100" y="1077069"/>
            <a:ext cx="4152900" cy="0"/>
          </a:xfrm>
          <a:prstGeom prst="line">
            <a:avLst/>
          </a:prstGeom>
          <a:noFill/>
          <a:ln w="38100">
            <a:solidFill>
              <a:srgbClr val="1976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37050" y="1223070"/>
            <a:ext cx="39769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Live Webcam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37050" y="1426220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auto-detection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37050" y="1600051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 every 2 seconds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37050" y="1773882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Top-3 confidence bars overlay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37050" y="1947714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Annotated output frame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1000" y="2324695"/>
            <a:ext cx="4152900" cy="1190476"/>
          </a:xfrm>
          <a:prstGeom prst="roundRect">
            <a:avLst>
              <a:gd name="adj" fmla="val 6401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381000" y="2343745"/>
            <a:ext cx="4152900" cy="0"/>
          </a:xfrm>
          <a:prstGeom prst="line">
            <a:avLst/>
          </a:prstGeom>
          <a:noFill/>
          <a:ln w="38100">
            <a:solidFill>
              <a:srgbClr val="F57C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7950" y="2489746"/>
            <a:ext cx="39769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Batch Processing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7950" y="2692896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Multi-image upload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7950" y="2866727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 results table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7950" y="3040559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export functionality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07950" y="3214390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statistics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610100" y="2324695"/>
            <a:ext cx="4152900" cy="1190476"/>
          </a:xfrm>
          <a:prstGeom prst="roundRect">
            <a:avLst>
              <a:gd name="adj" fmla="val 6401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610100" y="2343745"/>
            <a:ext cx="4152900" cy="0"/>
          </a:xfrm>
          <a:prstGeom prst="line">
            <a:avLst/>
          </a:prstGeom>
          <a:noFill/>
          <a:ln w="38100">
            <a:solidFill>
              <a:srgbClr val="7B1FA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37050" y="2489746"/>
            <a:ext cx="39769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Chat (EcoBot)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737050" y="2692896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Lite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737050" y="2866727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disposal Q&amp;A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37050" y="3040559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chat history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37050" y="3214390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advice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81000" y="3591371"/>
            <a:ext cx="4152900" cy="1190476"/>
          </a:xfrm>
          <a:prstGeom prst="roundRect">
            <a:avLst>
              <a:gd name="adj" fmla="val 6401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381000" y="3610421"/>
            <a:ext cx="4152900" cy="0"/>
          </a:xfrm>
          <a:prstGeom prst="line">
            <a:avLst/>
          </a:prstGeom>
          <a:noFill/>
          <a:ln w="38100">
            <a:solidFill>
              <a:srgbClr val="00838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7950" y="3756422"/>
            <a:ext cx="39769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History &amp; Stats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07950" y="3959572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dashboard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7950" y="4133404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 charts by category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7950" y="4307235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Diversion metrics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07950" y="4481066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Sortable log table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610100" y="3591371"/>
            <a:ext cx="4152900" cy="1190476"/>
          </a:xfrm>
          <a:prstGeom prst="roundRect">
            <a:avLst>
              <a:gd name="adj" fmla="val 6401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4610100" y="3610421"/>
            <a:ext cx="4152900" cy="0"/>
          </a:xfrm>
          <a:prstGeom prst="line">
            <a:avLst/>
          </a:prstGeom>
          <a:noFill/>
          <a:ln w="38100">
            <a:solidFill>
              <a:srgbClr val="C6282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37050" y="3756422"/>
            <a:ext cx="39769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Waste Guide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737050" y="3959572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reference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737050" y="4133404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category profiles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737050" y="4307235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 times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737050" y="4481066"/>
            <a:ext cx="397697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alerts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81000" y="4883348"/>
            <a:ext cx="1035248" cy="260152"/>
          </a:xfrm>
          <a:prstGeom prst="roundRect">
            <a:avLst>
              <a:gd name="adj" fmla="val 1952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482501" y="4946749"/>
            <a:ext cx="848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Switching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517749" y="4883348"/>
            <a:ext cx="1291530" cy="260152"/>
          </a:xfrm>
          <a:prstGeom prst="roundRect">
            <a:avLst>
              <a:gd name="adj" fmla="val 1952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1619250" y="4946749"/>
            <a:ext cx="11102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Warnings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2910780" y="4883348"/>
            <a:ext cx="1105198" cy="260152"/>
          </a:xfrm>
          <a:prstGeom prst="roundRect">
            <a:avLst>
              <a:gd name="adj" fmla="val 1952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012281" y="4946749"/>
            <a:ext cx="920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Bins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117479" y="4883348"/>
            <a:ext cx="1168747" cy="260152"/>
          </a:xfrm>
          <a:prstGeom prst="roundRect">
            <a:avLst>
              <a:gd name="adj" fmla="val 1952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218980" y="4946749"/>
            <a:ext cx="9850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Deployable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5387727" y="4883348"/>
            <a:ext cx="1249114" cy="260152"/>
          </a:xfrm>
          <a:prstGeom prst="roundRect">
            <a:avLst>
              <a:gd name="adj" fmla="val 1952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489228" y="4946749"/>
            <a:ext cx="10670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CSS Theme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header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55525"/>
            <a:ext cx="40691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Live Presentation Flow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44401" y="787301"/>
            <a:ext cx="4093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 (3 minutes)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44401" y="1123801"/>
            <a:ext cx="736402" cy="234851"/>
          </a:xfrm>
          <a:prstGeom prst="roundRect">
            <a:avLst>
              <a:gd name="adj" fmla="val 216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0568" y="1174552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0:00-0:30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82303" y="1123801"/>
            <a:ext cx="3175397" cy="355402"/>
          </a:xfrm>
          <a:prstGeom prst="roundRect">
            <a:avLst>
              <a:gd name="adj" fmla="val 1429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383804" y="1225302"/>
            <a:ext cx="30318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UI and walk through all 6 tabs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44401" y="1580704"/>
            <a:ext cx="736402" cy="234851"/>
          </a:xfrm>
          <a:prstGeom prst="roundRect">
            <a:avLst>
              <a:gd name="adj" fmla="val 216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40568" y="1631454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0:30-1:30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82303" y="1580704"/>
            <a:ext cx="3175397" cy="507802"/>
          </a:xfrm>
          <a:prstGeom prst="roundRect">
            <a:avLst>
              <a:gd name="adj" fmla="val 1000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383804" y="1682204"/>
            <a:ext cx="30318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waste image — show classification + Grad-CAM + disposal + AI advice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44401" y="2190006"/>
            <a:ext cx="736402" cy="234851"/>
          </a:xfrm>
          <a:prstGeom prst="roundRect">
            <a:avLst>
              <a:gd name="adj" fmla="val 216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40568" y="2240756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1:30-2:00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282303" y="2190006"/>
            <a:ext cx="3175397" cy="355402"/>
          </a:xfrm>
          <a:prstGeom prst="roundRect">
            <a:avLst>
              <a:gd name="adj" fmla="val 1429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383804" y="2291507"/>
            <a:ext cx="30318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Webcam: classify a real object in the room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44401" y="2646908"/>
            <a:ext cx="736402" cy="234851"/>
          </a:xfrm>
          <a:prstGeom prst="roundRect">
            <a:avLst>
              <a:gd name="adj" fmla="val 216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40568" y="2697659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2:00-2:30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282303" y="2646908"/>
            <a:ext cx="3175397" cy="355402"/>
          </a:xfrm>
          <a:prstGeom prst="roundRect">
            <a:avLst>
              <a:gd name="adj" fmla="val 1429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383804" y="2748409"/>
            <a:ext cx="30318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 3-4 images, show CSV export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44401" y="3103811"/>
            <a:ext cx="736402" cy="234851"/>
          </a:xfrm>
          <a:prstGeom prst="roundRect">
            <a:avLst>
              <a:gd name="adj" fmla="val 216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40568" y="3154561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2:30-2:45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282303" y="3103811"/>
            <a:ext cx="3175397" cy="355402"/>
          </a:xfrm>
          <a:prstGeom prst="roundRect">
            <a:avLst>
              <a:gd name="adj" fmla="val 1429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383804" y="3205311"/>
            <a:ext cx="30318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chat with EcoBot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44401" y="3560713"/>
            <a:ext cx="736402" cy="234851"/>
          </a:xfrm>
          <a:prstGeom prst="roundRect">
            <a:avLst>
              <a:gd name="adj" fmla="val 21631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40568" y="3611463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2:45-3:00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282303" y="3560713"/>
            <a:ext cx="3175397" cy="355402"/>
          </a:xfrm>
          <a:prstGeom prst="roundRect">
            <a:avLst>
              <a:gd name="adj" fmla="val 1429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1383804" y="3662214"/>
            <a:ext cx="30318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History tab with session statistics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686300" y="787301"/>
            <a:ext cx="40935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Bin System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686300" y="1123801"/>
            <a:ext cx="1955899" cy="711101"/>
          </a:xfrm>
          <a:prstGeom prst="roundRect">
            <a:avLst>
              <a:gd name="adj" fmla="val 10716"/>
            </a:avLst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796230" y="1250752"/>
            <a:ext cx="17360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Recyclable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796230" y="1441252"/>
            <a:ext cx="17360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Cardboard, Clothes, Glass, Metal, Paper, Plastic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743700" y="1123801"/>
            <a:ext cx="1955899" cy="711101"/>
          </a:xfrm>
          <a:prstGeom prst="roundRect">
            <a:avLst>
              <a:gd name="adj" fmla="val 10716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853630" y="1250752"/>
            <a:ext cx="17360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853630" y="1441252"/>
            <a:ext cx="1736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686300" y="1961852"/>
            <a:ext cx="1955899" cy="577751"/>
          </a:xfrm>
          <a:prstGeom prst="roundRect">
            <a:avLst>
              <a:gd name="adj" fmla="val 13189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796230" y="2088803"/>
            <a:ext cx="17360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Hazardous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796230" y="2279303"/>
            <a:ext cx="1736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743700" y="1961852"/>
            <a:ext cx="1955899" cy="577751"/>
          </a:xfrm>
          <a:prstGeom prst="roundRect">
            <a:avLst>
              <a:gd name="adj" fmla="val 13189"/>
            </a:avLst>
          </a:prstGeom>
          <a:solidFill>
            <a:srgbClr val="6161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853630" y="2088803"/>
            <a:ext cx="17360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Landfill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853630" y="2279303"/>
            <a:ext cx="1736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Shoes, Trash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686300" y="2666554"/>
            <a:ext cx="4013299" cy="126995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546229" y="3230017"/>
            <a:ext cx="2339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[Insert: app screenshot during live demo]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header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4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55525"/>
            <a:ext cx="358820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1000" y="761851"/>
            <a:ext cx="4102150" cy="917525"/>
          </a:xfrm>
          <a:prstGeom prst="roundRect">
            <a:avLst>
              <a:gd name="adj" fmla="val 11073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95427" y="914251"/>
            <a:ext cx="38732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93.96%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95427" y="1374577"/>
            <a:ext cx="38732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 (Target: 85%)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1000" y="1806327"/>
            <a:ext cx="41841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1000" y="210785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0800" y="2158603"/>
            <a:ext cx="116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6402" y="2158603"/>
            <a:ext cx="22152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transfer learning models compared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81000" y="243795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50800" y="2488704"/>
            <a:ext cx="116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6402" y="2488704"/>
            <a:ext cx="20636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interpretability analysis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81000" y="276805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50800" y="2818805"/>
            <a:ext cx="116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6402" y="2818805"/>
            <a:ext cx="20944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6-tab production Gradio web demo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81000" y="309815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50800" y="3148905"/>
            <a:ext cx="116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36402" y="3148905"/>
            <a:ext cx="2101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waste disposal advisor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81000" y="342825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50800" y="3479006"/>
            <a:ext cx="116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36402" y="3479006"/>
            <a:ext cx="15499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deployment ready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660850" y="761851"/>
            <a:ext cx="41841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660850" y="1063377"/>
            <a:ext cx="4102150" cy="320576"/>
          </a:xfrm>
          <a:prstGeom prst="roundRect">
            <a:avLst>
              <a:gd name="adj" fmla="val 15846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679900" y="1063377"/>
            <a:ext cx="0" cy="320576"/>
          </a:xfrm>
          <a:prstGeom prst="line">
            <a:avLst/>
          </a:prstGeom>
          <a:noFill/>
          <a:ln w="38100">
            <a:solidFill>
              <a:srgbClr val="F57C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25901" y="1152227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Single-object classification only (not multi-object detection)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60850" y="1447354"/>
            <a:ext cx="4102150" cy="320576"/>
          </a:xfrm>
          <a:prstGeom prst="roundRect">
            <a:avLst>
              <a:gd name="adj" fmla="val 15846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679900" y="1447354"/>
            <a:ext cx="0" cy="320576"/>
          </a:xfrm>
          <a:prstGeom prst="line">
            <a:avLst/>
          </a:prstGeom>
          <a:noFill/>
          <a:ln w="38100">
            <a:solidFill>
              <a:srgbClr val="F57C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25901" y="1536204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contains Western waste images, not Cambodian-specific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660850" y="1831330"/>
            <a:ext cx="4102150" cy="320576"/>
          </a:xfrm>
          <a:prstGeom prst="roundRect">
            <a:avLst>
              <a:gd name="adj" fmla="val 15846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4679900" y="1831330"/>
            <a:ext cx="0" cy="320576"/>
          </a:xfrm>
          <a:prstGeom prst="line">
            <a:avLst/>
          </a:prstGeom>
          <a:noFill/>
          <a:ln w="38100">
            <a:solidFill>
              <a:srgbClr val="F57C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25901" y="1920180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Clean/isolated objects differ from real-world mixed conditions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660850" y="2215307"/>
            <a:ext cx="41841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660850" y="2516832"/>
            <a:ext cx="4102150" cy="320576"/>
          </a:xfrm>
          <a:prstGeom prst="roundRect">
            <a:avLst>
              <a:gd name="adj" fmla="val 1584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4679900" y="2516832"/>
            <a:ext cx="0" cy="320576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25901" y="2605683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YOLO/Faster R-CNN</a:t>
            </a:r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multi-object detection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660850" y="2900809"/>
            <a:ext cx="4102150" cy="320576"/>
          </a:xfrm>
          <a:prstGeom prst="roundRect">
            <a:avLst>
              <a:gd name="adj" fmla="val 1584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4679900" y="2900809"/>
            <a:ext cx="0" cy="320576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25901" y="2989659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Lite</a:t>
            </a:r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mobile deployment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660850" y="3284786"/>
            <a:ext cx="4102150" cy="320576"/>
          </a:xfrm>
          <a:prstGeom prst="roundRect">
            <a:avLst>
              <a:gd name="adj" fmla="val 1584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4679900" y="3284786"/>
            <a:ext cx="0" cy="320576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25901" y="3373636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Cambodian dataset</a:t>
            </a:r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local waste items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660850" y="3668762"/>
            <a:ext cx="4102150" cy="320576"/>
          </a:xfrm>
          <a:prstGeom prst="roundRect">
            <a:avLst>
              <a:gd name="adj" fmla="val 1584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1"/>
          <p:cNvSpPr/>
          <p:nvPr/>
        </p:nvSpPr>
        <p:spPr>
          <a:xfrm>
            <a:off x="4679900" y="3668762"/>
            <a:ext cx="0" cy="320576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25901" y="3757613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video</a:t>
            </a:r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stream processing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660850" y="4052739"/>
            <a:ext cx="4102150" cy="320576"/>
          </a:xfrm>
          <a:prstGeom prst="roundRect">
            <a:avLst>
              <a:gd name="adj" fmla="val 1584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4"/>
          <p:cNvSpPr/>
          <p:nvPr/>
        </p:nvSpPr>
        <p:spPr>
          <a:xfrm>
            <a:off x="4679900" y="4052739"/>
            <a:ext cx="0" cy="320576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825901" y="4141589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methods</a:t>
            </a:r>
            <a:pPr algn="l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combining multiple models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yuujin/school/cv-final-project/pptx-workspace/slides/titl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6917" y="1505099"/>
            <a:ext cx="2470166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800" dirty="0"/>
          </a:p>
        </p:txBody>
      </p:sp>
      <p:pic>
        <p:nvPicPr>
          <p:cNvPr id="4" name="Image 1" descr="/home/yuujin/school/cv-final-project/pptx-workspace/slides/accent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320975"/>
            <a:ext cx="1524000" cy="3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4543" y="2612975"/>
            <a:ext cx="27349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2479372" y="3085951"/>
            <a:ext cx="41852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B3E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Waste Vision — CNN-Based Waste Classification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2513377" y="3387477"/>
            <a:ext cx="41172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B3E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93.96% Accuracy | 4 Models | Grad-CAM | 6-Tab Demo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Waste Vision — CV Final Project Presentation</dc:title>
  <dc:subject>PptxGenJS Presentation</dc:subject>
  <dc:creator>Smart Waste Vision</dc:creator>
  <cp:lastModifiedBy>Smart Waste Vision</cp:lastModifiedBy>
  <cp:revision>1</cp:revision>
  <dcterms:created xsi:type="dcterms:W3CDTF">2026-04-08T09:09:55Z</dcterms:created>
  <dcterms:modified xsi:type="dcterms:W3CDTF">2026-04-08T09:09:55Z</dcterms:modified>
</cp:coreProperties>
</file>